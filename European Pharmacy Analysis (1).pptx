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</p:sldIdLst>
  <p:sldSz cx="12192000" cy="6858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0BA0BE-5C2F-4B6D-9075-C5C11101D732}">
  <a:tblStyle styleId="{030BA0BE-5C2F-4B6D-9075-C5C11101D7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90e5de914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e90e5de914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0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1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21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7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3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089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261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526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84894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451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165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911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50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7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2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86" name="Google Shape;86;p13"/>
          <p:cNvSpPr txBox="1"/>
          <p:nvPr/>
        </p:nvSpPr>
        <p:spPr>
          <a:xfrm>
            <a:off x="489154" y="860044"/>
            <a:ext cx="9893711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4000" dirty="0">
                <a:solidFill>
                  <a:srgbClr val="0D9488"/>
                </a:solidFill>
                <a:latin typeface="Algerian" panose="04020705040A02060702" pitchFamily="82" charset="0"/>
                <a:ea typeface="Lato"/>
                <a:cs typeface="Lato"/>
                <a:sym typeface="Lato"/>
              </a:rPr>
              <a:t>European Pharmacy Analysis: Sales &amp; Product Insights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1999" y="3403401"/>
            <a:ext cx="109285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dirty="0">
                <a:solidFill>
                  <a:schemeClr val="bg2"/>
                </a:solidFill>
                <a:latin typeface="Algerian" panose="04020705040A02060702" pitchFamily="82" charset="0"/>
                <a:ea typeface="Lato"/>
                <a:cs typeface="Lato"/>
                <a:sym typeface="Lato"/>
              </a:rPr>
              <a:t> Prepared by: Anjaly EM</a:t>
            </a:r>
            <a:endParaRPr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08F1C-6580-B125-09DE-43010C09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105" y="2017331"/>
            <a:ext cx="4357831" cy="397223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220" y="1317479"/>
            <a:ext cx="10438171" cy="483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Purpose &amp; Strategic Objectives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A4804-04F9-B543-0F5C-060E6FE976C6}"/>
              </a:ext>
            </a:extLst>
          </p:cNvPr>
          <p:cNvSpPr txBox="1"/>
          <p:nvPr/>
        </p:nvSpPr>
        <p:spPr>
          <a:xfrm>
            <a:off x="952500" y="1759974"/>
            <a:ext cx="88699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0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The main objectives of this data analysis report are: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accurately analyze sales and profit across various pharmacies in Europe.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identify top-performing products and brands generating the highest revenue.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understand monthly trends and changes in revenue over time.</a:t>
            </a:r>
          </a:p>
          <a:p>
            <a:pPr marL="285750" lvl="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support data-driven decision-making for business improvement..</a:t>
            </a:r>
            <a:endParaRPr lang="en-US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19312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1802921"/>
            <a:ext cx="5300662" cy="352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Data Structure: The report is built on a Star Schema model.</a:t>
            </a:r>
          </a:p>
          <a:p>
            <a:pPr lvl="0"/>
            <a:endParaRPr lang="en-US" sz="12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Fact</a:t>
            </a:r>
            <a:r>
              <a:rPr lang="en-US" sz="1200" b="1" dirty="0">
                <a:solidFill>
                  <a:schemeClr val="bg1"/>
                </a:solidFill>
              </a:rPr>
              <a:t> Table</a:t>
            </a:r>
            <a:r>
              <a:rPr lang="en-US" sz="1200" dirty="0">
                <a:solidFill>
                  <a:schemeClr val="bg1"/>
                </a:solidFill>
              </a:rPr>
              <a:t>: Fact Sales (contains core metrics like Cost, Margin, and Units Sold)</a:t>
            </a:r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Dimension Tables</a:t>
            </a: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00" dirty="0">
                <a:solidFill>
                  <a:schemeClr val="bg1"/>
                </a:solidFill>
                <a:ea typeface="Lato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Dim Product: Includes Brand, Category, and Discontinued status.</a:t>
            </a:r>
          </a:p>
          <a:p>
            <a:pPr lvl="0">
              <a:lnSpc>
                <a:spcPct val="160000"/>
              </a:lnSpc>
            </a:pP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Dim Pharmacy: Contains location data such as City and Country.</a:t>
            </a:r>
          </a:p>
          <a:p>
            <a:pPr lvl="0">
              <a:lnSpc>
                <a:spcPct val="160000"/>
              </a:lnSpc>
            </a:pP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Dim Date: Provides time-based intelligence (Year, Month, Quarter)</a:t>
            </a:r>
          </a:p>
          <a:p>
            <a:pPr lvl="0">
              <a:lnSpc>
                <a:spcPct val="160000"/>
              </a:lnSpc>
            </a:pPr>
            <a:endParaRPr lang="en-US" sz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  <a:p>
            <a:pPr lvl="0">
              <a:lnSpc>
                <a:spcPct val="160000"/>
              </a:lnSpc>
            </a:pPr>
            <a:endParaRPr lang="en-US" sz="1200" dirty="0">
              <a:solidFill>
                <a:schemeClr val="bg1"/>
              </a:solidFill>
            </a:endParaRPr>
          </a:p>
          <a:p>
            <a:pPr lvl="0"/>
            <a:r>
              <a:rPr lang="en-U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Measures: </a:t>
            </a:r>
          </a:p>
          <a:p>
            <a:pPr lvl="0">
              <a:lnSpc>
                <a:spcPct val="150000"/>
              </a:lnSpc>
            </a:pPr>
            <a:endParaRPr lang="en-US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DAX measures like Total Revenue, Total Profit, Total unit sold and YoY Growth are used to calculate accurate business performance metrics.</a:t>
            </a:r>
            <a:endParaRPr sz="1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8619" y="1650830"/>
            <a:ext cx="3883741" cy="215425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Overview (Data Modeling)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43162"/>
            <a:ext cx="342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43162"/>
            <a:ext cx="342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0" y="2443162"/>
            <a:ext cx="342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19562"/>
            <a:ext cx="342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1500" y="4119562"/>
            <a:ext cx="342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0" y="4119562"/>
            <a:ext cx="34290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Performance Indicators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A45CA-43C2-2E47-987D-B148564F968B}"/>
              </a:ext>
            </a:extLst>
          </p:cNvPr>
          <p:cNvSpPr txBox="1"/>
          <p:nvPr/>
        </p:nvSpPr>
        <p:spPr>
          <a:xfrm>
            <a:off x="1022555" y="3429000"/>
            <a:ext cx="10677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Overall, the business shows strong financial performance with a 28.04% profit margin and steady +1.04% YoY growth. Also, 88.29% of sales came without promotions, showing strong customer demand and brand value.</a:t>
            </a:r>
            <a:endParaRPr lang="en-IN" dirty="0">
              <a:solidFill>
                <a:schemeClr val="bg1">
                  <a:lumMod val="65000"/>
                  <a:lumOff val="3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62187"/>
            <a:ext cx="10668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0812" y="2747962"/>
            <a:ext cx="726281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98281" y="3190875"/>
            <a:ext cx="726281" cy="2214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176688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Monthly Revenue Distribution (2024 - 2025)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8643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 Notable revenue peaks observed in January and July across the UK and Germany markets.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952500" y="4224337"/>
            <a:ext cx="726281" cy="1181100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821656" y="3633787"/>
            <a:ext cx="726281" cy="1771650"/>
          </a:xfrm>
          <a:prstGeom prst="roundRect">
            <a:avLst>
              <a:gd name="adj" fmla="val 5245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559968" y="3781425"/>
            <a:ext cx="726281" cy="1624012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429125" y="4076700"/>
            <a:ext cx="726281" cy="1328737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167437" y="3486150"/>
            <a:ext cx="726281" cy="1919287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036593" y="3929062"/>
            <a:ext cx="726281" cy="1476375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905750" y="4224337"/>
            <a:ext cx="726281" cy="1181100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8774906" y="3633787"/>
            <a:ext cx="726281" cy="1771650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644062" y="3781425"/>
            <a:ext cx="726281" cy="1624012"/>
          </a:xfrm>
          <a:prstGeom prst="roundRect">
            <a:avLst>
              <a:gd name="adj" fmla="val 5245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0513218" y="3338512"/>
            <a:ext cx="726281" cy="2066925"/>
          </a:xfrm>
          <a:prstGeom prst="roundRect">
            <a:avLst>
              <a:gd name="adj" fmla="val 5245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Trends &amp; Seasonality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219450"/>
            <a:ext cx="31432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762375"/>
            <a:ext cx="31432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3219450"/>
            <a:ext cx="298608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67000" y="3762375"/>
            <a:ext cx="204311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2943225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 Performing Products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305300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 Products: ‘Painless’ (93K) and ‘</a:t>
            </a:r>
            <a:r>
              <a:rPr lang="en-US" sz="1500" b="1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DigestEase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’ (64K) are the highest revenue-generating products.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6381750" y="2943225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High-Impact Cities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326707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PainLess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381000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DigestEase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810375" y="321945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Milan: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Top revenue generator in Southern Europe.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6810375" y="376237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Hamburg: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Leading logistical hub for Germany.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6810375" y="43053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Liege: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Strongest growth rate in the Benelux region.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&amp; Product Leadership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219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762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053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2750"/>
            <a:ext cx="106680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952750"/>
            <a:ext cx="50482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762750" y="3333750"/>
            <a:ext cx="45005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Strategy Note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762750" y="3609975"/>
            <a:ext cx="4286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Prescription and Wellness segments drive over 50% of total profitability.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Profit Analysis by Category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731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62000" y="2352675"/>
            <a:ext cx="8146026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Top-performing pharmacy locations and their specific achievements:</a:t>
            </a:r>
            <a:endParaRPr dirty="0"/>
          </a:p>
        </p:txBody>
      </p:sp>
      <p:graphicFrame>
        <p:nvGraphicFramePr>
          <p:cNvPr id="202" name="Google Shape;202;p20"/>
          <p:cNvGraphicFramePr/>
          <p:nvPr>
            <p:extLst>
              <p:ext uri="{D42A27DB-BD31-4B8C-83A1-F6EECF244321}">
                <p14:modId xmlns:p14="http://schemas.microsoft.com/office/powerpoint/2010/main" val="336738371"/>
              </p:ext>
            </p:extLst>
          </p:nvPr>
        </p:nvGraphicFramePr>
        <p:xfrm>
          <a:off x="762000" y="2844662"/>
          <a:ext cx="6622026" cy="2241662"/>
        </p:xfrm>
        <a:graphic>
          <a:graphicData uri="http://schemas.openxmlformats.org/drawingml/2006/table">
            <a:tbl>
              <a:tblPr firstRow="1" bandRow="1">
                <a:noFill/>
                <a:tableStyleId>{030BA0BE-5C2F-4B6D-9075-C5C11101D732}</a:tableStyleId>
              </a:tblPr>
              <a:tblGrid>
                <a:gridCol w="4797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Pharmacy 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Status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Munich HealthPoint #095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Revenue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London Central Care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Growth Lead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3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Paris Wellness Hub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Margin Lead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" name="Google Shape;205;p20"/>
          <p:cNvSpPr/>
          <p:nvPr/>
        </p:nvSpPr>
        <p:spPr>
          <a:xfrm>
            <a:off x="762000" y="3948112"/>
            <a:ext cx="32087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970734" y="3948112"/>
            <a:ext cx="1839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62000" y="4510087"/>
            <a:ext cx="32087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970734" y="4510087"/>
            <a:ext cx="1839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62000" y="5072062"/>
            <a:ext cx="32087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970734" y="5072062"/>
            <a:ext cx="1839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Operations &amp; Impact Analysis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D06D4-AB90-4790-285D-6F95C37A6C1B}"/>
              </a:ext>
            </a:extLst>
          </p:cNvPr>
          <p:cNvSpPr txBox="1"/>
          <p:nvPr/>
        </p:nvSpPr>
        <p:spPr>
          <a:xfrm>
            <a:off x="167148" y="2733368"/>
            <a:ext cx="11262852" cy="335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6286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Munich </a:t>
            </a:r>
            <a:r>
              <a:rPr lang="en-US" sz="11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HealthPoint</a:t>
            </a: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#095: It is the top earner (Top Revenue).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London Central Care: It is leading the fastest growth (Growth Lead).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Paris Wellness Hub: It has the highest profit margins (Margin Lead).</a:t>
            </a:r>
            <a:endParaRPr lang="en-IN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24012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190625" y="1624012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High-Margin Focus: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Prioritize marketing spend on "Prescription" and "Wellness" sectors to stabilize long-term profitability.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190625" y="2776537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Regional Supply Chain: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Expand warehouse capacity in Milan and Munich to support high-performance retail clusters.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190625" y="3929062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Promotion Strategy: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Re-evaluate promotional spend. 88% of current sales are organic; focus promotions on low-performing OTC items.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190625" y="5081587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Transition Management: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Develop a 12-month phase-out plan for the 8% revenue tied to discontinued products.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52500" y="571500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Recommendations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62000" y="571500"/>
            <a:ext cx="57150" cy="6191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624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776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29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0815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613820"/>
            <a:ext cx="106680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 txBox="1"/>
          <p:nvPr/>
        </p:nvSpPr>
        <p:spPr>
          <a:xfrm>
            <a:off x="228600" y="525843"/>
            <a:ext cx="112014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0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000" b="1" dirty="0">
                <a:solidFill>
                  <a:schemeClr val="bg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401" name="Google Shape;401;p32"/>
          <p:cNvSpPr txBox="1"/>
          <p:nvPr/>
        </p:nvSpPr>
        <p:spPr>
          <a:xfrm>
            <a:off x="762000" y="490530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dirty="0"/>
          </a:p>
        </p:txBody>
      </p:sp>
      <p:sp>
        <p:nvSpPr>
          <p:cNvPr id="2" name="Google Shape;401;p32">
            <a:extLst>
              <a:ext uri="{FF2B5EF4-FFF2-40B4-BE49-F238E27FC236}">
                <a16:creationId xmlns:a16="http://schemas.microsoft.com/office/drawing/2014/main" id="{6B3F9B9E-0E6B-0D1C-C23C-55871ECD7EC2}"/>
              </a:ext>
            </a:extLst>
          </p:cNvPr>
          <p:cNvSpPr txBox="1"/>
          <p:nvPr/>
        </p:nvSpPr>
        <p:spPr>
          <a:xfrm>
            <a:off x="589935" y="1868489"/>
            <a:ext cx="106680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9952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Power BI report shows that the European pharmacy business is operating with a 28.04% profit margin.</a:t>
            </a:r>
          </a:p>
          <a:p>
            <a:pPr marL="342900" lvl="0" indent="-342900">
              <a:lnSpc>
                <a:spcPct val="159952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Branded medicines and specific cities contribute most to revenue.</a:t>
            </a:r>
          </a:p>
          <a:p>
            <a:pPr marL="342900" lvl="0" indent="-342900">
              <a:lnSpc>
                <a:spcPct val="159952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Using these insights, adjusting marketing strategies can further improve business growth.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402</TotalTime>
  <Words>529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Algerian</vt:lpstr>
      <vt:lpstr>Century Gothic</vt:lpstr>
      <vt:lpstr>Wingdings 3</vt:lpstr>
      <vt:lpstr>Lato</vt:lpstr>
      <vt:lpstr>Poppins SemiBold</vt:lpstr>
      <vt:lpstr>Calibri</vt:lpstr>
      <vt:lpstr>Poppins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Ajith kumar</cp:lastModifiedBy>
  <cp:revision>6</cp:revision>
  <dcterms:modified xsi:type="dcterms:W3CDTF">2026-05-20T15:27:28Z</dcterms:modified>
</cp:coreProperties>
</file>